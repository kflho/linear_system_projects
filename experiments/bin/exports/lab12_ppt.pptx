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老师好，我汇报线性系统实验一和实验二，主线是建模、能控性、极点配置、输入输出解耦四步。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模型是 C-W 方程，四个状态、两路推力、两个位置输出。算出特征多项式 s²(s²+ω²)，两个极点在原点、一对在虚轴，属于临界稳定：不发散也回不到零，所以必须做状态反馈。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两路推力秩为 4，能控。只开径向秩只有 3：径向力不出现在切向方程里，切向位置只能靠耦合项间接带动，而丢的正是常值漂移。只开切向反而满秩；换成真实角速度结论不变。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极点是负二加减 j 和二重负二。第一组用课件四点四公式，能控性指数集是二二，坐标变换阵恰好是单位阵。第二组直接令 A 加 BK 块对角，K 从目标矩阵减 A 读出来。两组特征多项式完全相同。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初值取径向偏一米。解析解就是 e 的 Ac t 次方乘初值。位置约五秒进百分之二误差带，切向被带出零点六三米。Simulink 搭同一模型，状态偏差八点七乘十的负十一次方，三者自洽。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两组极点相同，曲线差很远。K1 把径向误差带进切向，切向推力峰值二十，接近两个 g；K2 两通道拆开，切向位置恒为零，推力一点七七，调节时间二点五秒。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两个输出都是位置量，求导两次才出现控制量，相对阶都是二。解耦矩阵 CAB 恰好是单位阵，非奇异；两个相对阶加起来正好是四，等于系统阶数，说明没有剩余动态。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没有剩余动态，最直接的做法是让 A 加 BK 变成两个二阶块，分母就是题给的两个多项式。B 的第二第四行是单位行，K 从目标矩阵减 A 读出来，读出来正好是实验一的 K2。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取 H 为单位阵，传递矩阵是两个二阶环节的对角和。在六个采样点上与题目要求比对，最大偏差四点二乘十的负十七次方，等于机器精度，说明解耦是精确的而不是近似。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给两路单位阶跃，H 取单位阵。输出、状态、控制三张图和 Simulink 都对过了，偏差在十的负十二到十三次方。但稳态只有零点二和零点二五，因为两个环节的直流增益是五分之一和四分之一。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稳态不到一是因为直流增益。把 H 取成对角五和四，G(0)H 就是单位阵，两条曲线稳态都到一。H 只改参考到输入的增益，闭环极点没动，所以动态形状不变，控制峰值升到五和四。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这一页是解耦的直接证据。只给第一路阶跃，第一路按两个二阶环节正常响应，第二路输出全程为零，解析解和 Simulink 的最大绝对值都是零。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三句收尾：开环临界稳定、只开径向不可控；两组 K 都实现要求极点，解不唯一；块对角 K 直接给出解耦，加 H 后稳态为一。下一步用观测器解决速度不可测。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2011680"/>
            <a:ext cx="5669280" cy="56692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CADCFC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64040" y="3337560"/>
            <a:ext cx="3017520" cy="3017520"/>
          </a:xfrm>
          <a:prstGeom prst="ellipse">
            <a:avLst/>
          </a:prstGeom>
          <a:solidFill>
            <a:srgbClr val="1E2761"/>
          </a:solidFill>
          <a:ln w="1016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35640" y="3401568"/>
            <a:ext cx="146304" cy="146304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87200" y="4617720"/>
            <a:ext cx="457200" cy="457200"/>
          </a:xfrm>
          <a:prstGeom prst="ellipse">
            <a:avLst/>
          </a:prstGeom>
          <a:solidFill>
            <a:srgbClr val="1E2761"/>
          </a:solidFill>
          <a:ln w="10160">
            <a:solidFill>
              <a:srgbClr val="CADCFC">
                <a:alpha val="6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0515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线性系统实验 · 卫星相对运动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9808" y="1572768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状态反馈极点配置与输入输出解耦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77240" y="26060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实验一、实验二 · 建模 → 能控性 → 极点配置 → 解耦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7240" y="31546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C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C-W 方程　·　ω = 1 rad/s　·　MATLAB / Simulink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58064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汇报人：________　　学号：________　　日期：________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846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实验一 · 状态反馈极点配置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" y="786384"/>
            <a:ext cx="109572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建立卫星相对运动的状态空间模型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719072"/>
            <a:ext cx="49377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8000"/>
              </a:lnSpc>
              <a:buSzPct val="100000"/>
              <a:buChar char="●"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</a:t>
            </a:r>
            <a:pPr indent="0" marL="0">
              <a:lnSpc>
                <a:spcPct val="138000"/>
              </a:lnSpc>
              <a:spcAft>
                <a:spcPts val="13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：径向位置与速率、切向位置与速率，共 4 维。</a:t>
            </a:r>
            <a:endParaRPr lang="en-US" sz="1500" dirty="0"/>
          </a:p>
          <a:p>
            <a:pPr marL="342900" indent="-342900">
              <a:lnSpc>
                <a:spcPct val="138000"/>
              </a:lnSpc>
              <a:buSzPct val="100000"/>
              <a:buChar char="●"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pPr indent="0" marL="0">
              <a:lnSpc>
                <a:spcPct val="138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：两路小推力发动机，径向 u</a:t>
            </a:r>
            <a:pPr indent="0" marL="0">
              <a:lnSpc>
                <a:spcPct val="138000"/>
              </a:lnSpc>
              <a:buNone/>
            </a:pPr>
            <a:r>
              <a:rPr lang="en-US" sz="1500" baseline="-40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</a:t>
            </a:r>
            <a:pPr indent="0" marL="0">
              <a:lnSpc>
                <a:spcPct val="138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、切向 u</a:t>
            </a:r>
            <a:pPr indent="0" marL="0">
              <a:lnSpc>
                <a:spcPct val="138000"/>
              </a:lnSpc>
              <a:buNone/>
            </a:pPr>
            <a:r>
              <a:rPr lang="en-US" sz="1500" baseline="-40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</a:t>
            </a:r>
            <a:pPr indent="0" marL="0">
              <a:lnSpc>
                <a:spcPct val="138000"/>
              </a:lnSpc>
              <a:spcAft>
                <a:spcPts val="13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500" dirty="0"/>
          </a:p>
          <a:p>
            <a:pPr marL="342900" indent="-342900">
              <a:lnSpc>
                <a:spcPct val="138000"/>
              </a:lnSpc>
              <a:buSzPct val="100000"/>
              <a:buChar char="●"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pPr indent="0" marL="0">
              <a:lnSpc>
                <a:spcPct val="138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：只能测到两个位置 y = [x, y]</a:t>
            </a:r>
            <a:pPr indent="0" marL="0">
              <a:lnSpc>
                <a:spcPct val="138000"/>
              </a:lnSpc>
              <a:buNone/>
            </a:pPr>
            <a:r>
              <a:rPr lang="en-US" sz="1500" baseline="30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</a:t>
            </a:r>
            <a:pPr indent="0" marL="0">
              <a:lnSpc>
                <a:spcPct val="138000"/>
              </a:lnSpc>
              <a:spcAft>
                <a:spcPts val="13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500" dirty="0"/>
          </a:p>
          <a:p>
            <a:pPr marL="342900" indent="-342900">
              <a:lnSpc>
                <a:spcPct val="138000"/>
              </a:lnSpc>
              <a:buSzPct val="100000"/>
              <a:buChar char="●"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耦合</a:t>
            </a:r>
            <a:pPr indent="0" marL="0">
              <a:lnSpc>
                <a:spcPct val="138000"/>
              </a:lnSpc>
              <a:spcAft>
                <a:spcPts val="13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：A 中的 2ωẋ、2ωẏ 让径向与切向互相带动。</a:t>
            </a:r>
            <a:endParaRPr lang="en-US" sz="1500" dirty="0"/>
          </a:p>
          <a:p>
            <a:pPr marL="342900" indent="-342900">
              <a:lnSpc>
                <a:spcPct val="138000"/>
              </a:lnSpc>
              <a:buSzPct val="100000"/>
              <a:buChar char="●"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尺度</a:t>
            </a:r>
            <a:pPr indent="0" marL="0">
              <a:lnSpc>
                <a:spcPct val="138000"/>
              </a:lnSpc>
              <a:spcAft>
                <a:spcPts val="13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：设计取 ω = 1，真实轨道约 0.0011 rad/s。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806440" y="1627632"/>
            <a:ext cx="5897880" cy="3749040"/>
          </a:xfrm>
          <a:prstGeom prst="roundRect">
            <a:avLst>
              <a:gd name="adj" fmla="val 2439"/>
            </a:avLst>
          </a:prstGeom>
          <a:solidFill>
            <a:srgbClr val="F4F7FC"/>
          </a:solidFill>
          <a:ln w="12700">
            <a:solidFill>
              <a:srgbClr val="F4F7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8932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C-W 方程（Hill 方程）</a:t>
            </a:r>
            <a:endParaRPr lang="en-US" sz="1100" dirty="0"/>
          </a:p>
        </p:txBody>
      </p:sp>
      <p:pic>
        <p:nvPicPr>
          <p:cNvPr id="7" name="Image 0" descr="D:\data\local\study\postgraduate\linear_system\projects\experiments\src\lab12_deck\formulas\eq_c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9048" y="2121408"/>
            <a:ext cx="5212080" cy="344411"/>
          </a:xfrm>
          <a:prstGeom prst="rect">
            <a:avLst/>
          </a:prstGeom>
        </p:spPr>
      </p:pic>
      <p:pic>
        <p:nvPicPr>
          <p:cNvPr id="8" name="Image 1" descr="D:\data\local\study\postgraduate\linear_system\projects\experiments\src\lab12_deck\formulas\eq_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088" y="2697480"/>
            <a:ext cx="2971800" cy="1329096"/>
          </a:xfrm>
          <a:prstGeom prst="rect">
            <a:avLst/>
          </a:prstGeom>
        </p:spPr>
      </p:pic>
      <p:pic>
        <p:nvPicPr>
          <p:cNvPr id="9" name="Image 2" descr="D:\data\local\study\postgraduate\linear_system\projects\experiments\src\lab12_deck\formulas\eq_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5208" y="2697480"/>
            <a:ext cx="1325880" cy="1394008"/>
          </a:xfrm>
          <a:prstGeom prst="rect">
            <a:avLst/>
          </a:prstGeom>
        </p:spPr>
      </p:pic>
      <p:pic>
        <p:nvPicPr>
          <p:cNvPr id="10" name="Image 3" descr="D:\data\local\study\postgraduate\linear_system\projects\experiments\src\lab12_deck\formulas\eq_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2068" y="4338376"/>
            <a:ext cx="2606040" cy="82947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40080" y="5897880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结论｜</a:t>
            </a:r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开环特征多项式 s</a:t>
            </a:r>
            <a:pPr indent="0" marL="0">
              <a:buNone/>
            </a:pPr>
            <a:r>
              <a:rPr lang="en-US" sz="1500" b="1" baseline="300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(s</a:t>
            </a:r>
            <a:pPr indent="0" marL="0">
              <a:buNone/>
            </a:pPr>
            <a:r>
              <a:rPr lang="en-US" sz="1500" b="1" baseline="300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+ω</a:t>
            </a:r>
            <a:pPr indent="0" marL="0">
              <a:buNone/>
            </a:pPr>
            <a:r>
              <a:rPr lang="en-US" sz="1500" b="1" baseline="300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)，极点为 0、0、±jω：临界稳定，必须反馈。</a:t>
            </a:r>
            <a:endParaRPr lang="en-US" sz="1500" dirty="0"/>
          </a:p>
        </p:txBody>
      </p:sp>
      <p:sp>
        <p:nvSpPr>
          <p:cNvPr id="12" name="Text 6"/>
          <p:cNvSpPr/>
          <p:nvPr/>
        </p:nvSpPr>
        <p:spPr>
          <a:xfrm>
            <a:off x="10637215" y="61081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13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846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实验一 · 状态反馈极点配置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" y="786384"/>
            <a:ext cx="109572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判别单通道推力下的能控性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6858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463040"/>
                <a:gridCol w="3291840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工况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rank 𝒞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结论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两路推力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能控，可任意配置极点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仅径向推力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E8A3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不能控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仅切向推力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能控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4348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不可控模态：λ = 0，左零向量 w ∝ [2,0,0,1]</a:t>
            </a:r>
            <a:pPr indent="0" marL="0">
              <a:buNone/>
            </a:pPr>
            <a:r>
              <a:rPr lang="en-US" sz="1200" baseline="30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，右特征向量 v = e</a:t>
            </a:r>
            <a:pPr indent="0" marL="0">
              <a:buNone/>
            </a:pPr>
            <a:r>
              <a:rPr lang="en-US" sz="1200" baseline="-40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（切向位置）。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48463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PBH 判据：rank[A−λI, b</a:t>
            </a:r>
            <a:pPr indent="0" marL="0">
              <a:buNone/>
            </a:pPr>
            <a:r>
              <a:rPr lang="en-US" sz="1200" baseline="-40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] = 3 &lt; 4；ω = 0.0011 时三个秩仍是 4 / 3 / 4。</a:t>
            </a:r>
            <a:endParaRPr lang="en-US" sz="1200" dirty="0"/>
          </a:p>
        </p:txBody>
      </p:sp>
      <p:pic>
        <p:nvPicPr>
          <p:cNvPr id="7" name="Image 0" descr="D:\data\local\study\postgraduate\linear_system\projects\experiments\bin\data\ex_01\ex_01_po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783080"/>
            <a:ext cx="3611880" cy="36118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818120" y="5468112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开环极点：两个在原点、一对在虚轴（ω = 1）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640080" y="5897880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结论｜</a:t>
            </a:r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只开径向时秩为 3：切向位置的常值漂移，径向推力拉不回来。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0637215" y="61081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13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846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实验一 · 状态反馈极点配置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" y="786384"/>
            <a:ext cx="109572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求解两组反馈增益 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6675120" cy="4069080"/>
          </a:xfrm>
          <a:prstGeom prst="roundRect">
            <a:avLst>
              <a:gd name="adj" fmla="val 2247"/>
            </a:avLst>
          </a:prstGeom>
          <a:solidFill>
            <a:srgbClr val="F4F7FC"/>
          </a:solidFill>
          <a:ln w="12700">
            <a:solidFill>
              <a:srgbClr val="F4F7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9222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期望极点 {−2±j, −2, −2}</a:t>
            </a:r>
            <a:endParaRPr lang="en-US" sz="1100" dirty="0"/>
          </a:p>
        </p:txBody>
      </p:sp>
      <p:pic>
        <p:nvPicPr>
          <p:cNvPr id="6" name="Image 0" descr="D:\data\local\study\postgraduate\linear_system\projects\experiments\src\lab12_deck\formulas\eq_gam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103120"/>
            <a:ext cx="5943600" cy="302745"/>
          </a:xfrm>
          <a:prstGeom prst="rect">
            <a:avLst/>
          </a:prstGeom>
        </p:spPr>
      </p:pic>
      <p:pic>
        <p:nvPicPr>
          <p:cNvPr id="7" name="Image 1" descr="D:\data\local\study\postgraduate\linear_system\projects\experiments\src\lab12_deck\formulas\eq_k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2697480"/>
            <a:ext cx="4114800" cy="824190"/>
          </a:xfrm>
          <a:prstGeom prst="rect">
            <a:avLst/>
          </a:prstGeom>
        </p:spPr>
      </p:pic>
      <p:pic>
        <p:nvPicPr>
          <p:cNvPr id="8" name="Image 2" descr="D:\data\local\study\postgraduate\linear_system\projects\experiments\src\lab12_deck\formulas\eq_k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0" y="3768558"/>
            <a:ext cx="3566160" cy="81547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14400" y="507492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特征多项式偏差：K₁ 2.5×10</a:t>
            </a:r>
            <a:pPr indent="0" marL="0">
              <a:buNone/>
            </a:pPr>
            <a:r>
              <a:rPr lang="en-US" sz="1200" baseline="3000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−14</a:t>
            </a:r>
            <a:pPr indent="0" marL="0">
              <a:buNone/>
            </a:pPr>
            <a:r>
              <a:rPr lang="en-US" sz="120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，K₂ 1.4×10</a:t>
            </a:r>
            <a:pPr indent="0" marL="0">
              <a:buNone/>
            </a:pPr>
            <a:r>
              <a:rPr lang="en-US" sz="1200" baseline="3000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−14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7589520" y="1719072"/>
            <a:ext cx="3931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8000"/>
              </a:lnSpc>
              <a:buSzPct val="100000"/>
              <a:buChar char="●"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要求</a:t>
            </a:r>
            <a:pPr indent="0" marL="0">
              <a:lnSpc>
                <a:spcPct val="138000"/>
              </a:lnSpc>
              <a:spcAft>
                <a:spcPts val="13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：闭环极点集合为 {−2±j, −2, −2}。</a:t>
            </a:r>
            <a:endParaRPr lang="en-US" sz="1500" dirty="0"/>
          </a:p>
          <a:p>
            <a:pPr marL="342900" indent="-342900">
              <a:lnSpc>
                <a:spcPct val="138000"/>
              </a:lnSpc>
              <a:buSzPct val="100000"/>
              <a:buChar char="●"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K₁</a:t>
            </a:r>
            <a:pPr indent="0" marL="0">
              <a:lnSpc>
                <a:spcPct val="138000"/>
              </a:lnSpc>
              <a:spcAft>
                <a:spcPts val="13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：课件 4.4 公式，ν = (2,2)，本例 T、τ 恰好是单位阵。</a:t>
            </a:r>
            <a:endParaRPr lang="en-US" sz="1500" dirty="0"/>
          </a:p>
          <a:p>
            <a:pPr marL="342900" indent="-342900">
              <a:lnSpc>
                <a:spcPct val="138000"/>
              </a:lnSpc>
              <a:buSzPct val="100000"/>
              <a:buChar char="●"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K₂</a:t>
            </a:r>
            <a:pPr indent="0" marL="0">
              <a:lnSpc>
                <a:spcPct val="138000"/>
              </a:lnSpc>
              <a:spcAft>
                <a:spcPts val="13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：令 A+BK 按通道块对角，K 由目标矩阵减 A 读出。</a:t>
            </a:r>
            <a:endParaRPr lang="en-US" sz="1500" dirty="0"/>
          </a:p>
          <a:p>
            <a:pPr marL="342900" indent="-342900">
              <a:lnSpc>
                <a:spcPct val="138000"/>
              </a:lnSpc>
              <a:buSzPct val="100000"/>
              <a:buChar char="●"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核对</a:t>
            </a:r>
            <a:pPr indent="0" marL="0">
              <a:lnSpc>
                <a:spcPct val="138000"/>
              </a:lnSpc>
              <a:spcAft>
                <a:spcPts val="13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：两组闭环系统的特征多项式都等于 γ(s)。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7589520" y="4315968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&gt; 4</a:t>
            </a:r>
            <a:endParaRPr lang="en-US" sz="2600" dirty="0"/>
          </a:p>
        </p:txBody>
      </p:sp>
      <p:sp>
        <p:nvSpPr>
          <p:cNvPr id="12" name="Text 7"/>
          <p:cNvSpPr/>
          <p:nvPr/>
        </p:nvSpPr>
        <p:spPr>
          <a:xfrm>
            <a:off x="7589520" y="48463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 的元素个数 vs 特征值约束个数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640080" y="5897880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结论｜</a:t>
            </a:r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两组 K 都精确实现同一组极点，但解不唯一：4 维解族。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10637215" y="61081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13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846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实验一 · 状态反馈极点配置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" y="786384"/>
            <a:ext cx="109572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求解初始状态响应并与 Simulink 对比</a:t>
            </a:r>
            <a:endParaRPr lang="en-US" sz="3000" dirty="0"/>
          </a:p>
        </p:txBody>
      </p:sp>
      <p:pic>
        <p:nvPicPr>
          <p:cNvPr id="4" name="Image 0" descr="D:\data\local\study\postgraduate\linear_system\projects\experiments\bin\data\ex_01\ex_01_states_K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91640"/>
            <a:ext cx="3611880" cy="23317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409654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状态响应 x(t)：x₀ = [1,0,0,0]^T，闭环系统用 K₁</a:t>
            </a:r>
            <a:endParaRPr lang="en-US" sz="1000" dirty="0"/>
          </a:p>
        </p:txBody>
      </p:sp>
      <p:pic>
        <p:nvPicPr>
          <p:cNvPr id="6" name="Image 1" descr="D:\data\local\study\postgraduate\linear_system\projects\experiments\bin\data\ex_01\ex_01_controls_K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389120"/>
            <a:ext cx="3291840" cy="115300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559612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控制量 u(t) = K₁x(t)：切向峰值 20 m/s²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4572000" y="1719072"/>
            <a:ext cx="6949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8000"/>
              </a:lnSpc>
              <a:buSzPct val="100000"/>
              <a:buChar char="●"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解析解</a:t>
            </a:r>
            <a:pPr indent="0" marL="0">
              <a:lnSpc>
                <a:spcPct val="138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：x(t) = e</a:t>
            </a:r>
            <a:pPr indent="0" marL="0">
              <a:lnSpc>
                <a:spcPct val="138000"/>
              </a:lnSpc>
              <a:buNone/>
            </a:pPr>
            <a:r>
              <a:rPr lang="en-US" sz="1500" baseline="30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(A+BK)t</a:t>
            </a:r>
            <a:pPr indent="0" marL="0">
              <a:lnSpc>
                <a:spcPct val="138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</a:t>
            </a:r>
            <a:pPr indent="0" marL="0">
              <a:lnSpc>
                <a:spcPct val="138000"/>
              </a:lnSpc>
              <a:buNone/>
            </a:pPr>
            <a:r>
              <a:rPr lang="en-US" sz="1500" baseline="-40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pPr indent="0" marL="0">
              <a:lnSpc>
                <a:spcPct val="138000"/>
              </a:lnSpc>
              <a:spcAft>
                <a:spcPts val="13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，u(t) = Kx(t)，线性定常系统即精确解。</a:t>
            </a:r>
            <a:endParaRPr lang="en-US" sz="1500" dirty="0"/>
          </a:p>
          <a:p>
            <a:pPr marL="342900" indent="-342900">
              <a:lnSpc>
                <a:spcPct val="138000"/>
              </a:lnSpc>
              <a:buSzPct val="100000"/>
              <a:buChar char="●"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收敛</a:t>
            </a:r>
            <a:pPr indent="0" marL="0">
              <a:lnSpc>
                <a:spcPct val="138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：位置约 5.06 s 进入 2% 误差带，末态 ‖x(10)‖ = 1.7×10</a:t>
            </a:r>
            <a:pPr indent="0" marL="0">
              <a:lnSpc>
                <a:spcPct val="138000"/>
              </a:lnSpc>
              <a:buNone/>
            </a:pPr>
            <a:r>
              <a:rPr lang="en-US" sz="1500" baseline="30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−6</a:t>
            </a:r>
            <a:pPr indent="0" marL="0">
              <a:lnSpc>
                <a:spcPct val="138000"/>
              </a:lnSpc>
              <a:spcAft>
                <a:spcPts val="13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500" dirty="0"/>
          </a:p>
          <a:p>
            <a:pPr marL="342900" indent="-342900">
              <a:lnSpc>
                <a:spcPct val="138000"/>
              </a:lnSpc>
              <a:buSzPct val="100000"/>
              <a:buChar char="●"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耦合</a:t>
            </a:r>
            <a:pPr indent="0" marL="0">
              <a:lnSpc>
                <a:spcPct val="138000"/>
              </a:lnSpc>
              <a:spcAft>
                <a:spcPts val="13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：切向位置被径向误差带出，最大约 0.63 m。</a:t>
            </a:r>
            <a:endParaRPr lang="en-US" sz="1500" dirty="0"/>
          </a:p>
          <a:p>
            <a:pPr marL="342900" indent="-342900">
              <a:lnSpc>
                <a:spcPct val="138000"/>
              </a:lnSpc>
              <a:buSzPct val="100000"/>
              <a:buChar char="●"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核对</a:t>
            </a:r>
            <a:pPr indent="0" marL="0">
              <a:lnSpc>
                <a:spcPct val="138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：Simulink 与解析解状态偏差 8.7×10</a:t>
            </a:r>
            <a:pPr indent="0" marL="0">
              <a:lnSpc>
                <a:spcPct val="138000"/>
              </a:lnSpc>
              <a:buNone/>
            </a:pPr>
            <a:r>
              <a:rPr lang="en-US" sz="1500" baseline="30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−11</a:t>
            </a:r>
            <a:pPr indent="0" marL="0">
              <a:lnSpc>
                <a:spcPct val="138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、控制偏差 2.4×10</a:t>
            </a:r>
            <a:pPr indent="0" marL="0">
              <a:lnSpc>
                <a:spcPct val="138000"/>
              </a:lnSpc>
              <a:buNone/>
            </a:pPr>
            <a:r>
              <a:rPr lang="en-US" sz="1500" baseline="30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−10</a:t>
            </a:r>
            <a:pPr indent="0" marL="0">
              <a:lnSpc>
                <a:spcPct val="138000"/>
              </a:lnSpc>
              <a:spcAft>
                <a:spcPts val="13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4572000" y="46177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5.06 s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4572000" y="51480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2% 调节时间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6766560" y="46177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1.7×10</a:t>
            </a:r>
            <a:pPr indent="0" marL="0">
              <a:buNone/>
            </a:pPr>
            <a:r>
              <a:rPr lang="en-US" sz="2600" b="1" baseline="300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−6</a:t>
            </a:r>
            <a:endParaRPr lang="en-US" sz="2600" dirty="0"/>
          </a:p>
        </p:txBody>
      </p:sp>
      <p:sp>
        <p:nvSpPr>
          <p:cNvPr id="12" name="Text 8"/>
          <p:cNvSpPr/>
          <p:nvPr/>
        </p:nvSpPr>
        <p:spPr>
          <a:xfrm>
            <a:off x="6766560" y="51480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末态 ‖x(10)‖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8869680" y="46177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8.7×10</a:t>
            </a:r>
            <a:pPr indent="0" marL="0">
              <a:buNone/>
            </a:pPr>
            <a:r>
              <a:rPr lang="en-US" sz="2600" b="1" baseline="300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−11</a:t>
            </a:r>
            <a:endParaRPr lang="en-US" sz="2600" dirty="0"/>
          </a:p>
        </p:txBody>
      </p:sp>
      <p:sp>
        <p:nvSpPr>
          <p:cNvPr id="14" name="Text 10"/>
          <p:cNvSpPr/>
          <p:nvPr/>
        </p:nvSpPr>
        <p:spPr>
          <a:xfrm>
            <a:off x="8869680" y="514807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Simulink 偏差（状态）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640080" y="5897880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结论｜</a:t>
            </a:r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解析解与 Simulink 吻合到 10</a:t>
            </a:r>
            <a:pPr indent="0" marL="0">
              <a:buNone/>
            </a:pPr>
            <a:r>
              <a:rPr lang="en-US" sz="1500" b="1" baseline="300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−11</a:t>
            </a:r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：模型、增益、仿真三者自洽。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10637215" y="61081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13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846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实验一 · 状态反馈极点配置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" y="786384"/>
            <a:ext cx="109572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对比两组 K 的过渡过程</a:t>
            </a:r>
            <a:endParaRPr lang="en-US" sz="3000" dirty="0"/>
          </a:p>
        </p:txBody>
      </p:sp>
      <p:pic>
        <p:nvPicPr>
          <p:cNvPr id="4" name="Image 0" descr="D:\data\local\study\postgraduate\linear_system\projects\experiments\bin\data\ex_01\ex_01_K1_vs_K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37360"/>
            <a:ext cx="5486400" cy="354189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537069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同一组极点下 K₁（公式解）与 K₂（解耦型）的响应对比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783080"/>
          <a:ext cx="525780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1143000"/>
                <a:gridCol w="1143000"/>
                <a:gridCol w="1188720"/>
                <a:gridCol w="100584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增益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径向峰值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切向峰值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调节时间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切向 y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K₁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4.85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8A3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20.0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5.06 s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最大 0.63 m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K₂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8.00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1.77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2.50 s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≡ 0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6400800" y="379476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8000"/>
              </a:lnSpc>
              <a:buSzPct val="100000"/>
              <a:buChar char="●"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K₁</a:t>
            </a:r>
            <a:pPr indent="0" marL="0">
              <a:lnSpc>
                <a:spcPct val="138000"/>
              </a:lnSpc>
              <a:spcAft>
                <a:spcPts val="13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：公式解不关心通道耦合，径向误差被带进切向，切向推力峰值接近 2g。</a:t>
            </a:r>
            <a:endParaRPr lang="en-US" sz="1500" dirty="0"/>
          </a:p>
          <a:p>
            <a:pPr marL="342900" indent="-342900">
              <a:lnSpc>
                <a:spcPct val="138000"/>
              </a:lnSpc>
              <a:buSzPct val="100000"/>
              <a:buChar char="●"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K₂</a:t>
            </a:r>
            <a:pPr indent="0" marL="0">
              <a:lnSpc>
                <a:spcPct val="138000"/>
              </a:lnSpc>
              <a:spcAft>
                <a:spcPts val="13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：两个通道拆开，切向位置恒为零，切向推力降到 1.77。</a:t>
            </a:r>
            <a:endParaRPr lang="en-US" sz="1500" dirty="0"/>
          </a:p>
          <a:p>
            <a:pPr marL="342900" indent="-342900">
              <a:lnSpc>
                <a:spcPct val="138000"/>
              </a:lnSpc>
              <a:buSzPct val="100000"/>
              <a:buChar char="●"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原因</a:t>
            </a:r>
            <a:pPr indent="0" marL="0">
              <a:lnSpc>
                <a:spcPct val="138000"/>
              </a:lnSpc>
              <a:spcAft>
                <a:spcPts val="13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：极点只定模态衰减快慢，模态在各状态的分额由特征向量决定。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640080" y="5897880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结论｜</a:t>
            </a:r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极点定快慢，特征向量定形态：选哪组 K 决定执行机构负担。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10637215" y="61081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13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846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实验二 · 输入输出解耦控制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" y="786384"/>
            <a:ext cx="109572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求相对阶与解耦矩阵，判断解耦条件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719072"/>
            <a:ext cx="4663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8000"/>
              </a:lnSpc>
              <a:buSzPct val="100000"/>
              <a:buChar char="●"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相对阶</a:t>
            </a:r>
            <a:pPr indent="0" marL="0">
              <a:lnSpc>
                <a:spcPct val="138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：两个输出求导两次才出现控制量，d</a:t>
            </a:r>
            <a:pPr indent="0" marL="0">
              <a:lnSpc>
                <a:spcPct val="138000"/>
              </a:lnSpc>
              <a:buNone/>
            </a:pPr>
            <a:r>
              <a:rPr lang="en-US" sz="1500" baseline="-40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pPr indent="0" marL="0">
              <a:lnSpc>
                <a:spcPct val="138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= d</a:t>
            </a:r>
            <a:pPr indent="0" marL="0">
              <a:lnSpc>
                <a:spcPct val="138000"/>
              </a:lnSpc>
              <a:buNone/>
            </a:pPr>
            <a:r>
              <a:rPr lang="en-US" sz="1500" baseline="-40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pPr indent="0" marL="0">
              <a:lnSpc>
                <a:spcPct val="138000"/>
              </a:lnSpc>
              <a:spcAft>
                <a:spcPts val="13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= 2。</a:t>
            </a:r>
            <a:endParaRPr lang="en-US" sz="1500" dirty="0"/>
          </a:p>
          <a:p>
            <a:pPr marL="342900" indent="-342900">
              <a:lnSpc>
                <a:spcPct val="138000"/>
              </a:lnSpc>
              <a:buSzPct val="100000"/>
              <a:buChar char="●"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解耦矩阵</a:t>
            </a:r>
            <a:pPr indent="0" marL="0">
              <a:lnSpc>
                <a:spcPct val="138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：B* = CAB = I</a:t>
            </a:r>
            <a:pPr indent="0" marL="0">
              <a:lnSpc>
                <a:spcPct val="138000"/>
              </a:lnSpc>
              <a:buNone/>
            </a:pPr>
            <a:r>
              <a:rPr lang="en-US" sz="1500" baseline="-40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pPr indent="0" marL="0">
              <a:lnSpc>
                <a:spcPct val="138000"/>
              </a:lnSpc>
              <a:spcAft>
                <a:spcPts val="13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，非奇异，静态解耦条件满足。</a:t>
            </a:r>
            <a:endParaRPr lang="en-US" sz="1500" dirty="0"/>
          </a:p>
          <a:p>
            <a:pPr marL="342900" indent="-342900">
              <a:lnSpc>
                <a:spcPct val="138000"/>
              </a:lnSpc>
              <a:buSzPct val="100000"/>
              <a:buChar char="●"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剩余动态</a:t>
            </a:r>
            <a:pPr indent="0" marL="0">
              <a:lnSpc>
                <a:spcPct val="138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：Σd</a:t>
            </a:r>
            <a:pPr indent="0" marL="0">
              <a:lnSpc>
                <a:spcPct val="138000"/>
              </a:lnSpc>
              <a:buNone/>
            </a:pPr>
            <a:r>
              <a:rPr lang="en-US" sz="1500" baseline="-40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</a:t>
            </a:r>
            <a:pPr indent="0" marL="0">
              <a:lnSpc>
                <a:spcPct val="138000"/>
              </a:lnSpc>
              <a:spcAft>
                <a:spcPts val="13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= 4 = n，系统没有剩余动态。</a:t>
            </a:r>
            <a:endParaRPr lang="en-US" sz="1500" dirty="0"/>
          </a:p>
          <a:p>
            <a:pPr marL="342900" indent="-342900">
              <a:lnSpc>
                <a:spcPct val="138000"/>
              </a:lnSpc>
              <a:buSzPct val="100000"/>
              <a:buChar char="●"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含义</a:t>
            </a:r>
            <a:pPr indent="0" marL="0">
              <a:lnSpc>
                <a:spcPct val="138000"/>
              </a:lnSpc>
              <a:spcAft>
                <a:spcPts val="13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：可以精确解耦，且极点仍可任意配置。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0" y="1645920"/>
            <a:ext cx="6035040" cy="2880360"/>
          </a:xfrm>
          <a:prstGeom prst="roundRect">
            <a:avLst>
              <a:gd name="adj" fmla="val 3175"/>
            </a:avLst>
          </a:prstGeom>
          <a:solidFill>
            <a:srgbClr val="F4F7FC"/>
          </a:solidFill>
          <a:ln w="12700">
            <a:solidFill>
              <a:srgbClr val="F4F7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0" y="179222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输出求导两次后出现控制量</a:t>
            </a:r>
            <a:endParaRPr lang="en-US" sz="1100" dirty="0"/>
          </a:p>
        </p:txBody>
      </p:sp>
      <p:pic>
        <p:nvPicPr>
          <p:cNvPr id="7" name="Image 0" descr="D:\data\local\study\postgraduate\linear_system\projects\experiments\src\lab12_deck\formulas\eq_relor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2103120"/>
            <a:ext cx="5120640" cy="280737"/>
          </a:xfrm>
          <a:prstGeom prst="rect">
            <a:avLst/>
          </a:prstGeom>
        </p:spPr>
      </p:pic>
      <p:pic>
        <p:nvPicPr>
          <p:cNvPr id="8" name="Image 1" descr="D:\data\local\study\postgraduate\linear_system\projects\experiments\src\lab12_deck\formulas\eq_b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3063240"/>
            <a:ext cx="5486400" cy="58720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5897880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结论｜</a:t>
            </a:r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相对阶之和正好等于系统阶数：解耦之外，极点还能随便配。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0637215" y="61081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13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846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实验二 · 输入输出解耦控制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" y="786384"/>
            <a:ext cx="109572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设计解耦控制律 u = Kx + Hv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6583680" cy="3429000"/>
          </a:xfrm>
          <a:prstGeom prst="roundRect">
            <a:avLst>
              <a:gd name="adj" fmla="val 2667"/>
            </a:avLst>
          </a:prstGeom>
          <a:solidFill>
            <a:srgbClr val="F4F7FC"/>
          </a:solidFill>
          <a:ln w="12700">
            <a:solidFill>
              <a:srgbClr val="F4F7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9222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令闭环系统按通道块对角</a:t>
            </a:r>
            <a:endParaRPr lang="en-US" sz="1100" dirty="0"/>
          </a:p>
        </p:txBody>
      </p:sp>
      <p:pic>
        <p:nvPicPr>
          <p:cNvPr id="6" name="Image 0" descr="D:\data\local\study\postgraduate\linear_system\projects\experiments\src\lab12_deck\formulas\eq_blkdi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148840"/>
            <a:ext cx="5760720" cy="787395"/>
          </a:xfrm>
          <a:prstGeom prst="rect">
            <a:avLst/>
          </a:prstGeom>
        </p:spPr>
      </p:pic>
      <p:pic>
        <p:nvPicPr>
          <p:cNvPr id="7" name="Image 1" descr="D:\data\local\study\postgraduate\linear_system\projects\experiments\src\lab12_deck\formulas\eq_k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60" y="3429000"/>
            <a:ext cx="3931920" cy="8991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400" y="461772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s²+4s+5 ⇒ −2±j　　s²+4s+4 ⇒ −2, −2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7498080" y="1719072"/>
            <a:ext cx="4023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8000"/>
              </a:lnSpc>
              <a:buSzPct val="100000"/>
              <a:buChar char="●"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</a:t>
            </a:r>
            <a:pPr indent="0" marL="0">
              <a:lnSpc>
                <a:spcPct val="138000"/>
              </a:lnSpc>
              <a:spcAft>
                <a:spcPts val="13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：u = Kx + Hv 下传递矩阵为给定对角阵。</a:t>
            </a:r>
            <a:endParaRPr lang="en-US" sz="1500" dirty="0"/>
          </a:p>
          <a:p>
            <a:pPr marL="342900" indent="-342900">
              <a:lnSpc>
                <a:spcPct val="138000"/>
              </a:lnSpc>
              <a:buSzPct val="100000"/>
              <a:buChar char="●"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读法</a:t>
            </a:r>
            <a:pPr indent="0" marL="0">
              <a:lnSpc>
                <a:spcPct val="138000"/>
              </a:lnSpc>
              <a:spcAft>
                <a:spcPts val="13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：B 的第 2、4 行是单位行，K 由目标矩阵减 A 直接读出。</a:t>
            </a:r>
            <a:endParaRPr lang="en-US" sz="1500" dirty="0"/>
          </a:p>
          <a:p>
            <a:pPr marL="342900" indent="-342900">
              <a:lnSpc>
                <a:spcPct val="138000"/>
              </a:lnSpc>
              <a:buSzPct val="100000"/>
              <a:buChar char="●"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</a:t>
            </a:r>
            <a:pPr indent="0" marL="0">
              <a:lnSpc>
                <a:spcPct val="138000"/>
              </a:lnSpc>
              <a:spcAft>
                <a:spcPts val="13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：这组 K 与实验一的 K₂ 完全相同。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640080" y="5897880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结论｜</a:t>
            </a:r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解耦增益 K 就是实验一的 K₂：两条路走到同一个矩阵。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0637215" y="61081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13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846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实验二 · 输入输出解耦控制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" y="786384"/>
            <a:ext cx="109572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验证解耦后的传递矩阵与题目要求一致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927080" cy="2148840"/>
          </a:xfrm>
          <a:prstGeom prst="roundRect">
            <a:avLst>
              <a:gd name="adj" fmla="val 4255"/>
            </a:avLst>
          </a:prstGeom>
          <a:solidFill>
            <a:srgbClr val="F4F7FC"/>
          </a:solidFill>
          <a:ln w="12700">
            <a:solidFill>
              <a:srgbClr val="F4F7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7393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 H = I，解耦后的传递矩阵</a:t>
            </a:r>
            <a:endParaRPr lang="en-US" sz="1100" dirty="0"/>
          </a:p>
        </p:txBody>
      </p:sp>
      <p:pic>
        <p:nvPicPr>
          <p:cNvPr id="6" name="Image 0" descr="D:\data\local\study\postgraduate\linear_system\projects\experiments\src\lab12_deck\formulas\eq_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9928" y="2331720"/>
            <a:ext cx="8778240" cy="5097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4069080"/>
            <a:ext cx="10607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8000"/>
              </a:lnSpc>
              <a:buSzPct val="100000"/>
              <a:buChar char="●"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比对点</a:t>
            </a:r>
            <a:pPr indent="0" marL="0">
              <a:lnSpc>
                <a:spcPct val="138000"/>
              </a:lnSpc>
              <a:spcAft>
                <a:spcPts val="13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：s = 0、0.5、1、2、1+2j、3j，共六个点。</a:t>
            </a:r>
            <a:endParaRPr lang="en-US" sz="1500" dirty="0"/>
          </a:p>
          <a:p>
            <a:pPr marL="342900" indent="-342900">
              <a:lnSpc>
                <a:spcPct val="138000"/>
              </a:lnSpc>
              <a:buSzPct val="100000"/>
              <a:buChar char="●"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偏差</a:t>
            </a:r>
            <a:pPr indent="0" marL="0">
              <a:lnSpc>
                <a:spcPct val="138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：与题目要求逐点比较，最大偏差 4.2×10</a:t>
            </a:r>
            <a:pPr indent="0" marL="0">
              <a:lnSpc>
                <a:spcPct val="138000"/>
              </a:lnSpc>
              <a:buNone/>
            </a:pPr>
            <a:r>
              <a:rPr lang="en-US" sz="1500" baseline="30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−17</a:t>
            </a:r>
            <a:pPr indent="0" marL="0">
              <a:lnSpc>
                <a:spcPct val="138000"/>
              </a:lnSpc>
              <a:spcAft>
                <a:spcPts val="13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，等于机器精度。</a:t>
            </a:r>
            <a:endParaRPr lang="en-US" sz="1500" dirty="0"/>
          </a:p>
          <a:p>
            <a:pPr marL="342900" indent="-342900">
              <a:lnSpc>
                <a:spcPct val="138000"/>
              </a:lnSpc>
              <a:buSzPct val="100000"/>
              <a:buChar char="●"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pPr indent="0" marL="0">
              <a:lnSpc>
                <a:spcPct val="138000"/>
              </a:lnSpc>
              <a:spcAft>
                <a:spcPts val="13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：H = I 时 G(s) 严格等于两个二阶环节的对角和，解耦是精确的。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5897880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结论｜</a:t>
            </a:r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传递矩阵与题目要求逐点一致，偏差在 10</a:t>
            </a:r>
            <a:pPr indent="0" marL="0">
              <a:buNone/>
            </a:pPr>
            <a:r>
              <a:rPr lang="en-US" sz="1500" b="1" baseline="30000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−17</a:t>
            </a:r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量级。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0637215" y="61081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13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846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实验二 · 输入输出解耦控制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" y="786384"/>
            <a:ext cx="109572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计算单位阶跃响应（y、x、u）</a:t>
            </a:r>
            <a:endParaRPr lang="en-US" sz="3000" dirty="0"/>
          </a:p>
        </p:txBody>
      </p:sp>
      <p:pic>
        <p:nvPicPr>
          <p:cNvPr id="4" name="Image 0" descr="D:\data\local\study\postgraduate\linear_system\projects\experiments\bin\data\ex_02\ex_02_outputs_H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91640"/>
            <a:ext cx="3474720" cy="207569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3822203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 y(t)：稳态 0.2000 / 0.2500</a:t>
            </a:r>
            <a:endParaRPr lang="en-US" sz="1000" dirty="0"/>
          </a:p>
        </p:txBody>
      </p:sp>
      <p:pic>
        <p:nvPicPr>
          <p:cNvPr id="6" name="Image 1" descr="D:\data\local\study\postgraduate\linear_system\projects\experiments\bin\data\ex_02\ex_02_states_H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691640"/>
            <a:ext cx="3246120" cy="209157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43400" y="383807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 x(t)</a:t>
            </a:r>
            <a:endParaRPr lang="en-US" sz="1000" dirty="0"/>
          </a:p>
        </p:txBody>
      </p:sp>
      <p:pic>
        <p:nvPicPr>
          <p:cNvPr id="8" name="Image 2" descr="D:\data\local\study\postgraduate\linear_system\projects\experiments\bin\data\ex_02\ex_02_controls_H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4343400"/>
            <a:ext cx="3246120" cy="112673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343400" y="552499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 u(t)：峰值 1.00 / 1.00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8092440" y="1719072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8000"/>
              </a:lnSpc>
              <a:buSzPct val="100000"/>
              <a:buChar char="●"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</a:t>
            </a:r>
            <a:pPr indent="0" marL="0">
              <a:lnSpc>
                <a:spcPct val="138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：v(t) = [1(t), 1(t)]</a:t>
            </a:r>
            <a:pPr indent="0" marL="0">
              <a:lnSpc>
                <a:spcPct val="138000"/>
              </a:lnSpc>
              <a:buNone/>
            </a:pPr>
            <a:r>
              <a:rPr lang="en-US" sz="1500" baseline="30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</a:t>
            </a:r>
            <a:pPr indent="0" marL="0">
              <a:lnSpc>
                <a:spcPct val="138000"/>
              </a:lnSpc>
              <a:spcAft>
                <a:spcPts val="13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，H = I。</a:t>
            </a:r>
            <a:endParaRPr lang="en-US" sz="1500" dirty="0"/>
          </a:p>
          <a:p>
            <a:pPr marL="342900" indent="-342900">
              <a:lnSpc>
                <a:spcPct val="138000"/>
              </a:lnSpc>
              <a:buSzPct val="100000"/>
              <a:buChar char="●"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仿真</a:t>
            </a:r>
            <a:pPr indent="0" marL="0">
              <a:lnSpc>
                <a:spcPct val="138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：Simulink 与解析解偏差 x 8.5×10</a:t>
            </a:r>
            <a:pPr indent="0" marL="0">
              <a:lnSpc>
                <a:spcPct val="138000"/>
              </a:lnSpc>
              <a:buNone/>
            </a:pPr>
            <a:r>
              <a:rPr lang="en-US" sz="1500" baseline="30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−13</a:t>
            </a:r>
            <a:pPr indent="0" marL="0">
              <a:lnSpc>
                <a:spcPct val="138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、y 3.5×10</a:t>
            </a:r>
            <a:pPr indent="0" marL="0">
              <a:lnSpc>
                <a:spcPct val="138000"/>
              </a:lnSpc>
              <a:buNone/>
            </a:pPr>
            <a:r>
              <a:rPr lang="en-US" sz="1500" baseline="30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−13</a:t>
            </a:r>
            <a:pPr indent="0" marL="0">
              <a:lnSpc>
                <a:spcPct val="138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、u 1.4×10</a:t>
            </a:r>
            <a:pPr indent="0" marL="0">
              <a:lnSpc>
                <a:spcPct val="138000"/>
              </a:lnSpc>
              <a:buNone/>
            </a:pPr>
            <a:r>
              <a:rPr lang="en-US" sz="1500" baseline="30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−12</a:t>
            </a:r>
            <a:pPr indent="0" marL="0">
              <a:lnSpc>
                <a:spcPct val="138000"/>
              </a:lnSpc>
              <a:spcAft>
                <a:spcPts val="13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500" dirty="0"/>
          </a:p>
          <a:p>
            <a:pPr marL="342900" indent="-342900">
              <a:lnSpc>
                <a:spcPct val="138000"/>
              </a:lnSpc>
              <a:buSzPct val="100000"/>
              <a:buChar char="●"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</a:t>
            </a:r>
            <a:pPr indent="0" marL="0">
              <a:lnSpc>
                <a:spcPct val="138000"/>
              </a:lnSpc>
              <a:spcAft>
                <a:spcPts val="13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：稳态只有 0.2 和 0.25，还没到题目要求的 1。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640080" y="5897880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结论｜</a:t>
            </a:r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 = I 时两条曲线稳态只有 0.2 和 0.25，因为直流增益是 1/5 和 1/4。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10637215" y="61081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13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846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实验二 · 输入输出解耦控制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" y="786384"/>
            <a:ext cx="109572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调整 H 使稳态输出为 1</a:t>
            </a:r>
            <a:endParaRPr lang="en-US" sz="3000" dirty="0"/>
          </a:p>
        </p:txBody>
      </p:sp>
      <p:pic>
        <p:nvPicPr>
          <p:cNvPr id="4" name="Image 0" descr="D:\data\local\study\postgraduate\linear_system\projects\experiments\bin\data\ex_02\ex_02_outputs_H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37360"/>
            <a:ext cx="3611880" cy="215763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396814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 = I：稳态 0.2000 / 0.2500</a:t>
            </a:r>
            <a:endParaRPr lang="en-US" sz="1000" dirty="0"/>
          </a:p>
        </p:txBody>
      </p:sp>
      <p:pic>
        <p:nvPicPr>
          <p:cNvPr id="6" name="Image 1" descr="D:\data\local\study\postgraduate\linear_system\projects\experiments\bin\data\ex_02\ex_02_outputs_H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737360"/>
            <a:ext cx="3611880" cy="216669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43400" y="3977207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 = diag(5,4)：稳态 1.0000 / 1.0000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8138160" y="1719072"/>
            <a:ext cx="3383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8000"/>
              </a:lnSpc>
              <a:buSzPct val="100000"/>
              <a:buChar char="●"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原因</a:t>
            </a:r>
            <a:pPr indent="0" marL="0">
              <a:lnSpc>
                <a:spcPct val="138000"/>
              </a:lnSpc>
              <a:spcAft>
                <a:spcPts val="13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：两个二阶环节直流增益为 1/5 与 1/4，H = I 时按此缩放。</a:t>
            </a:r>
            <a:endParaRPr lang="en-US" sz="1500" dirty="0"/>
          </a:p>
          <a:p>
            <a:pPr marL="342900" indent="-342900">
              <a:lnSpc>
                <a:spcPct val="138000"/>
              </a:lnSpc>
              <a:buSzPct val="100000"/>
              <a:buChar char="●"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取法</a:t>
            </a:r>
            <a:pPr indent="0" marL="0">
              <a:lnSpc>
                <a:spcPct val="138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：H = diag(5,4)，则 G(0)H = I</a:t>
            </a:r>
            <a:pPr indent="0" marL="0">
              <a:lnSpc>
                <a:spcPct val="138000"/>
              </a:lnSpc>
              <a:buNone/>
            </a:pPr>
            <a:r>
              <a:rPr lang="en-US" sz="1500" baseline="-40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pPr indent="0" marL="0">
              <a:lnSpc>
                <a:spcPct val="138000"/>
              </a:lnSpc>
              <a:spcAft>
                <a:spcPts val="13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500" dirty="0"/>
          </a:p>
          <a:p>
            <a:pPr marL="342900" indent="-342900">
              <a:lnSpc>
                <a:spcPct val="138000"/>
              </a:lnSpc>
              <a:buSzPct val="100000"/>
              <a:buChar char="●"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代价</a:t>
            </a:r>
            <a:pPr indent="0" marL="0">
              <a:lnSpc>
                <a:spcPct val="138000"/>
              </a:lnSpc>
              <a:spcAft>
                <a:spcPts val="13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：控制峰值升到 5.0 / 4.0，动态形状不变。</a:t>
            </a:r>
            <a:endParaRPr lang="en-US" sz="1500" dirty="0"/>
          </a:p>
        </p:txBody>
      </p:sp>
      <p:pic>
        <p:nvPicPr>
          <p:cNvPr id="9" name="Image 2" descr="D:\data\local\study\postgraduate\linear_system\projects\experiments\src\lab12_deck\formulas\eq_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4343400"/>
            <a:ext cx="3108960" cy="22610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40080" y="5897880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结论｜</a:t>
            </a:r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 只改参考到输入的增益：稳态从 0.2/0.25 提到 1，闭环极点不动。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10637215" y="61081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13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846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实验二 · 输入输出解耦控制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" y="786384"/>
            <a:ext cx="109572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验证两通道解耦</a:t>
            </a:r>
            <a:endParaRPr lang="en-US" sz="3000" dirty="0"/>
          </a:p>
        </p:txBody>
      </p:sp>
      <p:pic>
        <p:nvPicPr>
          <p:cNvPr id="4" name="Image 0" descr="D:\data\local\study\postgraduate\linear_system\projects\experiments\bin\data\ex_02\ex_02_decoupling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37360"/>
            <a:ext cx="6035040" cy="31696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4998464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只加 v₁ = 1(t)、v₂ = 0：y₁ 正常响应，y₂ 全程为零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7178040" y="182880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178040" y="235915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max|y₂|（解析解与 Simulink 都是 0）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178040" y="3246120"/>
            <a:ext cx="4297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8000"/>
              </a:lnSpc>
              <a:buSzPct val="100000"/>
              <a:buChar char="●"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做法</a:t>
            </a:r>
            <a:pPr indent="0" marL="0">
              <a:lnSpc>
                <a:spcPct val="138000"/>
              </a:lnSpc>
              <a:spcAft>
                <a:spcPts val="13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：只给第一路参考，第二路置零。</a:t>
            </a:r>
            <a:endParaRPr lang="en-US" sz="1500" dirty="0"/>
          </a:p>
          <a:p>
            <a:pPr marL="342900" indent="-342900">
              <a:lnSpc>
                <a:spcPct val="138000"/>
              </a:lnSpc>
              <a:buSzPct val="100000"/>
              <a:buChar char="●"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</a:t>
            </a:r>
            <a:pPr indent="0" marL="0">
              <a:lnSpc>
                <a:spcPct val="138000"/>
              </a:lnSpc>
              <a:spcAft>
                <a:spcPts val="13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：y₁ 按 s²+4s+5 响应，y₂ 恒等于零。</a:t>
            </a:r>
            <a:endParaRPr lang="en-US" sz="1500" dirty="0"/>
          </a:p>
          <a:p>
            <a:pPr marL="342900" indent="-342900">
              <a:lnSpc>
                <a:spcPct val="138000"/>
              </a:lnSpc>
              <a:buSzPct val="100000"/>
              <a:buChar char="●"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意义</a:t>
            </a:r>
            <a:pPr indent="0" marL="0">
              <a:lnSpc>
                <a:spcPct val="138000"/>
              </a:lnSpc>
              <a:spcAft>
                <a:spcPts val="13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：两个通道真正独立，不是幅值小到看不见。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0080" y="5897880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结论｜</a:t>
            </a:r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只加一路参考，另一路输出严格为零：输入输出解耦成立。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637215" y="61081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13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480560"/>
            <a:ext cx="4206240" cy="4206240"/>
          </a:xfrm>
          <a:prstGeom prst="ellipse">
            <a:avLst/>
          </a:prstGeom>
          <a:solidFill>
            <a:srgbClr val="1E2761"/>
          </a:solidFill>
          <a:ln w="1016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822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实验结论与下一步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1783080"/>
            <a:ext cx="9509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7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建模与能控性｜</a:t>
            </a:r>
            <a:pPr indent="0" marL="0">
              <a:lnSpc>
                <a:spcPct val="150000"/>
              </a:lnSpc>
              <a:spcAft>
                <a:spcPts val="2200"/>
              </a:spcAft>
              <a:buNone/>
            </a:pPr>
            <a:r>
              <a:rPr lang="en-US" sz="17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开环临界稳定；两路推力能控，只开径向秩为 3，切向漂移不可控。</a:t>
            </a:r>
            <a:endParaRPr lang="en-US" sz="17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7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极点配置｜</a:t>
            </a:r>
            <a:pPr indent="0" marL="0">
              <a:lnSpc>
                <a:spcPct val="150000"/>
              </a:lnSpc>
              <a:spcAft>
                <a:spcPts val="2200"/>
              </a:spcAft>
              <a:buNone/>
            </a:pPr>
            <a:r>
              <a:rPr lang="en-US" sz="17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两组 K 都实现 {−2±j, −2, −2}；8 个元素、4 个约束，解是四维族。</a:t>
            </a:r>
            <a:endParaRPr lang="en-US" sz="17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7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解耦控制｜</a:t>
            </a:r>
            <a:pPr indent="0" marL="0">
              <a:lnSpc>
                <a:spcPct val="150000"/>
              </a:lnSpc>
              <a:spcAft>
                <a:spcPts val="2200"/>
              </a:spcAft>
              <a:buNone/>
            </a:pPr>
            <a:r>
              <a:rPr lang="en-US" sz="17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块对角 K 即 K₂；H = diag(5,4) 使稳态为 1；只加一路参考另一路恒为零。</a:t>
            </a:r>
            <a:endParaRPr lang="en-US" sz="17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7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下一步｜</a:t>
            </a:r>
            <a:pPr indent="0" marL="0">
              <a:lnSpc>
                <a:spcPct val="150000"/>
              </a:lnSpc>
              <a:spcAft>
                <a:spcPts val="2200"/>
              </a:spcAft>
              <a:buNone/>
            </a:pPr>
            <a:r>
              <a:rPr lang="en-US" sz="17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速度量不到，实验五、六用观测器重构状态后再做反馈。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77240" y="5669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谢谢老师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线性系统实验一、二：状态反馈极点配置与输入输出解耦</dc:title>
  <dc:subject>PptxGenJS Presentation</dc:subject>
  <dc:creator>kf-proposal-exports</dc:creator>
  <cp:lastModifiedBy>kf-proposal-exports</cp:lastModifiedBy>
  <cp:revision>1</cp:revision>
  <dcterms:created xsi:type="dcterms:W3CDTF">2026-10-22T03:01:12Z</dcterms:created>
  <dcterms:modified xsi:type="dcterms:W3CDTF">2026-10-22T03:01:12Z</dcterms:modified>
</cp:coreProperties>
</file>